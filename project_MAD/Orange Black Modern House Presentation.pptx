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Open Sans Bold" charset="1" panose="00000000000000000000"/>
      <p:regular r:id="rId18"/>
    </p:embeddedFont>
    <p:embeddedFont>
      <p:font typeface="Open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Relationship Id="rId6" Target="../media/image10.jpe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4.jpeg" Type="http://schemas.openxmlformats.org/officeDocument/2006/relationships/image"/><Relationship Id="rId5" Target="../media/image15.jpeg" Type="http://schemas.openxmlformats.org/officeDocument/2006/relationships/image"/><Relationship Id="rId6" Target="../media/image16.jpeg" Type="http://schemas.openxmlformats.org/officeDocument/2006/relationships/image"/><Relationship Id="rId7" Target="../media/image1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8.jpeg" Type="http://schemas.openxmlformats.org/officeDocument/2006/relationships/image"/><Relationship Id="rId5" Target="../media/image1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28700"/>
            <a:ext cx="18288000" cy="6126530"/>
            <a:chOff x="0" y="0"/>
            <a:chExt cx="24384000" cy="8168706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24874" r="0" b="24874"/>
            <a:stretch>
              <a:fillRect/>
            </a:stretch>
          </p:blipFill>
          <p:spPr>
            <a:xfrm flipH="false" flipV="false">
              <a:off x="0" y="0"/>
              <a:ext cx="24384000" cy="8168706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81185" y="320325"/>
            <a:ext cx="401530" cy="305893"/>
          </a:xfrm>
          <a:custGeom>
            <a:avLst/>
            <a:gdLst/>
            <a:ahLst/>
            <a:cxnLst/>
            <a:rect r="r" b="b" t="t" l="l"/>
            <a:pathLst>
              <a:path h="305893" w="401530">
                <a:moveTo>
                  <a:pt x="0" y="0"/>
                </a:moveTo>
                <a:lnTo>
                  <a:pt x="401530" y="0"/>
                </a:lnTo>
                <a:lnTo>
                  <a:pt x="401530" y="305893"/>
                </a:lnTo>
                <a:lnTo>
                  <a:pt x="0" y="3058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6672" y="5464687"/>
            <a:ext cx="16922628" cy="137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9"/>
              </a:lnSpc>
            </a:pPr>
            <a:r>
              <a:rPr lang="en-US" b="true" sz="8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RENTAL PRO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39459" y="8813160"/>
            <a:ext cx="1067892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1599">
                <a:solidFill>
                  <a:srgbClr val="FF5C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 NO : 23-NTU-CS1146,1201</a:t>
            </a:r>
          </a:p>
        </p:txBody>
      </p:sp>
      <p:sp>
        <p:nvSpPr>
          <p:cNvPr name="AutoShape 10" id="10"/>
          <p:cNvSpPr/>
          <p:nvPr/>
        </p:nvSpPr>
        <p:spPr>
          <a:xfrm>
            <a:off x="2025825" y="9002072"/>
            <a:ext cx="1913635" cy="0"/>
          </a:xfrm>
          <a:prstGeom prst="line">
            <a:avLst/>
          </a:prstGeom>
          <a:ln cap="flat" w="19050">
            <a:solidFill>
              <a:srgbClr val="FF5C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4444738" y="9011597"/>
            <a:ext cx="1913635" cy="0"/>
          </a:xfrm>
          <a:prstGeom prst="line">
            <a:avLst/>
          </a:prstGeom>
          <a:ln cap="flat" w="19050">
            <a:solidFill>
              <a:srgbClr val="FF5C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37568" y="3867152"/>
            <a:ext cx="16922628" cy="137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9"/>
              </a:lnSpc>
            </a:pPr>
            <a:r>
              <a:rPr lang="en-US" b="true" sz="8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58187" y="7868466"/>
            <a:ext cx="1477162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spc="1759">
                <a:solidFill>
                  <a:srgbClr val="FF5C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NAME : EEMAAN FATIMA , NIMRA TANVEER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81185" y="320325"/>
            <a:ext cx="401530" cy="305893"/>
          </a:xfrm>
          <a:custGeom>
            <a:avLst/>
            <a:gdLst/>
            <a:ahLst/>
            <a:cxnLst/>
            <a:rect r="r" b="b" t="t" l="l"/>
            <a:pathLst>
              <a:path h="305893" w="401530">
                <a:moveTo>
                  <a:pt x="0" y="0"/>
                </a:moveTo>
                <a:lnTo>
                  <a:pt x="401530" y="0"/>
                </a:lnTo>
                <a:lnTo>
                  <a:pt x="401530" y="305893"/>
                </a:lnTo>
                <a:lnTo>
                  <a:pt x="0" y="305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05840"/>
            <a:ext cx="2820741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Arowwai Industries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690482" y="7789422"/>
            <a:ext cx="47625" cy="1468878"/>
            <a:chOff x="0" y="0"/>
            <a:chExt cx="12543" cy="386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43" cy="386865"/>
            </a:xfrm>
            <a:custGeom>
              <a:avLst/>
              <a:gdLst/>
              <a:ahLst/>
              <a:cxnLst/>
              <a:rect r="r" b="b" t="t" l="l"/>
              <a:pathLst>
                <a:path h="386865" w="12543">
                  <a:moveTo>
                    <a:pt x="0" y="0"/>
                  </a:moveTo>
                  <a:lnTo>
                    <a:pt x="12543" y="0"/>
                  </a:lnTo>
                  <a:lnTo>
                    <a:pt x="12543" y="386865"/>
                  </a:lnTo>
                  <a:lnTo>
                    <a:pt x="0" y="386865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543" cy="4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1028700"/>
            <a:ext cx="9258300" cy="6760722"/>
            <a:chOff x="0" y="0"/>
            <a:chExt cx="12344400" cy="9014297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4"/>
            <a:srcRect l="8705" t="0" r="0" b="0"/>
            <a:stretch>
              <a:fillRect/>
            </a:stretch>
          </p:blipFill>
          <p:spPr>
            <a:xfrm flipH="true" flipV="false">
              <a:off x="0" y="0"/>
              <a:ext cx="12344400" cy="9014297"/>
            </a:xfrm>
            <a:prstGeom prst="rect">
              <a:avLst/>
            </a:prstGeom>
          </p:spPr>
        </p:pic>
      </p:grpSp>
      <p:sp>
        <p:nvSpPr>
          <p:cNvPr name="TextBox 12" id="12"/>
          <p:cNvSpPr txBox="true"/>
          <p:nvPr/>
        </p:nvSpPr>
        <p:spPr>
          <a:xfrm rot="0">
            <a:off x="11301968" y="2693228"/>
            <a:ext cx="4801687" cy="177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301968" y="2516228"/>
            <a:ext cx="676273" cy="47625"/>
            <a:chOff x="0" y="0"/>
            <a:chExt cx="178113" cy="125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8113" cy="12543"/>
            </a:xfrm>
            <a:custGeom>
              <a:avLst/>
              <a:gdLst/>
              <a:ahLst/>
              <a:cxnLst/>
              <a:rect r="r" b="b" t="t" l="l"/>
              <a:pathLst>
                <a:path h="12543" w="178113">
                  <a:moveTo>
                    <a:pt x="0" y="0"/>
                  </a:moveTo>
                  <a:lnTo>
                    <a:pt x="178113" y="0"/>
                  </a:lnTo>
                  <a:lnTo>
                    <a:pt x="178113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8113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904193" y="4710886"/>
            <a:ext cx="6017569" cy="4612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•Traditional property rental methods are slow and inefficient</a:t>
            </a: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•Users rely on newspapers, dealers, and social media</a:t>
            </a: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•No centralized management system available</a:t>
            </a: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•Communication between renters and landlords is difficult</a:t>
            </a:r>
          </a:p>
          <a:p>
            <a:pPr algn="just">
              <a:lnSpc>
                <a:spcPts val="40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81185" y="320325"/>
            <a:ext cx="401530" cy="305893"/>
          </a:xfrm>
          <a:custGeom>
            <a:avLst/>
            <a:gdLst/>
            <a:ahLst/>
            <a:cxnLst/>
            <a:rect r="r" b="b" t="t" l="l"/>
            <a:pathLst>
              <a:path h="305893" w="401530">
                <a:moveTo>
                  <a:pt x="0" y="0"/>
                </a:moveTo>
                <a:lnTo>
                  <a:pt x="401530" y="0"/>
                </a:lnTo>
                <a:lnTo>
                  <a:pt x="401530" y="305893"/>
                </a:lnTo>
                <a:lnTo>
                  <a:pt x="0" y="305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690482" y="7789422"/>
            <a:ext cx="47625" cy="1468878"/>
            <a:chOff x="0" y="0"/>
            <a:chExt cx="12543" cy="3868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43" cy="386865"/>
            </a:xfrm>
            <a:custGeom>
              <a:avLst/>
              <a:gdLst/>
              <a:ahLst/>
              <a:cxnLst/>
              <a:rect r="r" b="b" t="t" l="l"/>
              <a:pathLst>
                <a:path h="386865" w="12543">
                  <a:moveTo>
                    <a:pt x="0" y="0"/>
                  </a:moveTo>
                  <a:lnTo>
                    <a:pt x="12543" y="0"/>
                  </a:lnTo>
                  <a:lnTo>
                    <a:pt x="12543" y="386865"/>
                  </a:lnTo>
                  <a:lnTo>
                    <a:pt x="0" y="386865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543" cy="4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323340" y="2312551"/>
            <a:ext cx="5661898" cy="5661898"/>
            <a:chOff x="0" y="0"/>
            <a:chExt cx="7549197" cy="7549197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4"/>
            <a:srcRect l="28191" t="0" r="15558" b="0"/>
            <a:stretch>
              <a:fillRect/>
            </a:stretch>
          </p:blipFill>
          <p:spPr>
            <a:xfrm flipH="false" flipV="false">
              <a:off x="0" y="0"/>
              <a:ext cx="7549197" cy="7549197"/>
            </a:xfrm>
            <a:prstGeom prst="rect">
              <a:avLst/>
            </a:prstGeom>
          </p:spPr>
        </p:pic>
      </p:grpSp>
      <p:grpSp>
        <p:nvGrpSpPr>
          <p:cNvPr name="Group 11" id="11"/>
          <p:cNvGrpSpPr/>
          <p:nvPr/>
        </p:nvGrpSpPr>
        <p:grpSpPr>
          <a:xfrm rot="0">
            <a:off x="7736496" y="2312551"/>
            <a:ext cx="2381733" cy="5661898"/>
            <a:chOff x="0" y="0"/>
            <a:chExt cx="3175644" cy="7549197"/>
          </a:xfrm>
        </p:grpSpPr>
        <p:pic>
          <p:nvPicPr>
            <p:cNvPr name="Picture 12" id="12"/>
            <p:cNvPicPr>
              <a:picLocks noChangeAspect="true"/>
            </p:cNvPicPr>
            <p:nvPr/>
          </p:nvPicPr>
          <p:blipFill>
            <a:blip r:embed="rId4"/>
            <a:srcRect l="2536" t="0" r="73801" b="0"/>
            <a:stretch>
              <a:fillRect/>
            </a:stretch>
          </p:blipFill>
          <p:spPr>
            <a:xfrm flipH="false" flipV="false">
              <a:off x="0" y="0"/>
              <a:ext cx="3175644" cy="7549197"/>
            </a:xfrm>
            <a:prstGeom prst="rect">
              <a:avLst/>
            </a:prstGeom>
          </p:spPr>
        </p:pic>
      </p:grpSp>
      <p:sp>
        <p:nvSpPr>
          <p:cNvPr name="TextBox 13" id="13"/>
          <p:cNvSpPr txBox="true"/>
          <p:nvPr/>
        </p:nvSpPr>
        <p:spPr>
          <a:xfrm rot="0">
            <a:off x="1397563" y="2916220"/>
            <a:ext cx="4779565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122057" y="2623960"/>
            <a:ext cx="676273" cy="47625"/>
            <a:chOff x="0" y="0"/>
            <a:chExt cx="178113" cy="125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8113" cy="12543"/>
            </a:xfrm>
            <a:custGeom>
              <a:avLst/>
              <a:gdLst/>
              <a:ahLst/>
              <a:cxnLst/>
              <a:rect r="r" b="b" t="t" l="l"/>
              <a:pathLst>
                <a:path h="12543" w="178113">
                  <a:moveTo>
                    <a:pt x="0" y="0"/>
                  </a:moveTo>
                  <a:lnTo>
                    <a:pt x="178113" y="0"/>
                  </a:lnTo>
                  <a:lnTo>
                    <a:pt x="178113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78113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97563" y="4130501"/>
            <a:ext cx="6129384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•Develop a mobile-based rental application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•Simplify property searching process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•Provide secure property management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•Improve communication between renters and landlords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•Implement smart search and filtering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6052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453800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93116" y="545903"/>
            <a:ext cx="397367" cy="28996"/>
            <a:chOff x="0" y="0"/>
            <a:chExt cx="128243" cy="93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81185" y="320325"/>
            <a:ext cx="401530" cy="305893"/>
          </a:xfrm>
          <a:custGeom>
            <a:avLst/>
            <a:gdLst/>
            <a:ahLst/>
            <a:cxnLst/>
            <a:rect r="r" b="b" t="t" l="l"/>
            <a:pathLst>
              <a:path h="305893" w="401530">
                <a:moveTo>
                  <a:pt x="0" y="0"/>
                </a:moveTo>
                <a:lnTo>
                  <a:pt x="401530" y="0"/>
                </a:lnTo>
                <a:lnTo>
                  <a:pt x="401530" y="305893"/>
                </a:lnTo>
                <a:lnTo>
                  <a:pt x="0" y="305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690482" y="7789422"/>
            <a:ext cx="47625" cy="1468878"/>
            <a:chOff x="0" y="0"/>
            <a:chExt cx="12543" cy="3868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43" cy="386865"/>
            </a:xfrm>
            <a:custGeom>
              <a:avLst/>
              <a:gdLst/>
              <a:ahLst/>
              <a:cxnLst/>
              <a:rect r="r" b="b" t="t" l="l"/>
              <a:pathLst>
                <a:path h="386865" w="12543">
                  <a:moveTo>
                    <a:pt x="0" y="0"/>
                  </a:moveTo>
                  <a:lnTo>
                    <a:pt x="12543" y="0"/>
                  </a:lnTo>
                  <a:lnTo>
                    <a:pt x="12543" y="386865"/>
                  </a:lnTo>
                  <a:lnTo>
                    <a:pt x="0" y="386865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543" cy="4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05863" y="2281599"/>
            <a:ext cx="676273" cy="47625"/>
            <a:chOff x="0" y="0"/>
            <a:chExt cx="178113" cy="125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8113" cy="12543"/>
            </a:xfrm>
            <a:custGeom>
              <a:avLst/>
              <a:gdLst/>
              <a:ahLst/>
              <a:cxnLst/>
              <a:rect r="r" b="b" t="t" l="l"/>
              <a:pathLst>
                <a:path h="12543" w="178113">
                  <a:moveTo>
                    <a:pt x="0" y="0"/>
                  </a:moveTo>
                  <a:lnTo>
                    <a:pt x="178113" y="0"/>
                  </a:lnTo>
                  <a:lnTo>
                    <a:pt x="178113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8113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01385" y="6459319"/>
            <a:ext cx="5730341" cy="3342699"/>
          </a:xfrm>
          <a:custGeom>
            <a:avLst/>
            <a:gdLst/>
            <a:ahLst/>
            <a:cxnLst/>
            <a:rect r="r" b="b" t="t" l="l"/>
            <a:pathLst>
              <a:path h="3342699" w="5730341">
                <a:moveTo>
                  <a:pt x="0" y="0"/>
                </a:moveTo>
                <a:lnTo>
                  <a:pt x="5730342" y="0"/>
                </a:lnTo>
                <a:lnTo>
                  <a:pt x="5730342" y="3342699"/>
                </a:lnTo>
                <a:lnTo>
                  <a:pt x="0" y="33426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701096" y="6418480"/>
            <a:ext cx="5740537" cy="3383538"/>
          </a:xfrm>
          <a:custGeom>
            <a:avLst/>
            <a:gdLst/>
            <a:ahLst/>
            <a:cxnLst/>
            <a:rect r="r" b="b" t="t" l="l"/>
            <a:pathLst>
              <a:path h="3383538" w="5740537">
                <a:moveTo>
                  <a:pt x="0" y="0"/>
                </a:moveTo>
                <a:lnTo>
                  <a:pt x="5740537" y="0"/>
                </a:lnTo>
                <a:lnTo>
                  <a:pt x="5740537" y="3383538"/>
                </a:lnTo>
                <a:lnTo>
                  <a:pt x="0" y="3383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518" r="0" b="-6518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926488" y="2430024"/>
            <a:ext cx="8435025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b="true" sz="5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Literature Review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52513" y="3576944"/>
            <a:ext cx="10382975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•Existing systems include Zameen, Graana, and Airbnb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•Most systems are commercial and complex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•Digital rental systems improve accessibility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•Map integration improves user experience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453800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93116" y="545903"/>
            <a:ext cx="397367" cy="28996"/>
            <a:chOff x="0" y="0"/>
            <a:chExt cx="128243" cy="93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81185" y="320325"/>
            <a:ext cx="401530" cy="305893"/>
          </a:xfrm>
          <a:custGeom>
            <a:avLst/>
            <a:gdLst/>
            <a:ahLst/>
            <a:cxnLst/>
            <a:rect r="r" b="b" t="t" l="l"/>
            <a:pathLst>
              <a:path h="305893" w="401530">
                <a:moveTo>
                  <a:pt x="0" y="0"/>
                </a:moveTo>
                <a:lnTo>
                  <a:pt x="401530" y="0"/>
                </a:lnTo>
                <a:lnTo>
                  <a:pt x="401530" y="305893"/>
                </a:lnTo>
                <a:lnTo>
                  <a:pt x="0" y="305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690482" y="7789422"/>
            <a:ext cx="47625" cy="1468878"/>
            <a:chOff x="0" y="0"/>
            <a:chExt cx="12543" cy="3868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43" cy="386865"/>
            </a:xfrm>
            <a:custGeom>
              <a:avLst/>
              <a:gdLst/>
              <a:ahLst/>
              <a:cxnLst/>
              <a:rect r="r" b="b" t="t" l="l"/>
              <a:pathLst>
                <a:path h="386865" w="12543">
                  <a:moveTo>
                    <a:pt x="0" y="0"/>
                  </a:moveTo>
                  <a:lnTo>
                    <a:pt x="12543" y="0"/>
                  </a:lnTo>
                  <a:lnTo>
                    <a:pt x="12543" y="386865"/>
                  </a:lnTo>
                  <a:lnTo>
                    <a:pt x="0" y="386865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543" cy="4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1028700"/>
            <a:ext cx="5145529" cy="3086100"/>
            <a:chOff x="0" y="0"/>
            <a:chExt cx="6860706" cy="4114800"/>
          </a:xfrm>
        </p:grpSpPr>
        <p:pic>
          <p:nvPicPr>
            <p:cNvPr name="Picture 16" id="16"/>
            <p:cNvPicPr>
              <a:picLocks noChangeAspect="true"/>
            </p:cNvPicPr>
            <p:nvPr/>
          </p:nvPicPr>
          <p:blipFill>
            <a:blip r:embed="rId4"/>
            <a:srcRect l="0" t="5073" r="0" b="5073"/>
            <a:stretch>
              <a:fillRect/>
            </a:stretch>
          </p:blipFill>
          <p:spPr>
            <a:xfrm flipH="false" flipV="false">
              <a:off x="0" y="0"/>
              <a:ext cx="6860706" cy="4114800"/>
            </a:xfrm>
            <a:prstGeom prst="rect">
              <a:avLst/>
            </a:prstGeom>
          </p:spPr>
        </p:pic>
      </p:grpSp>
      <p:grpSp>
        <p:nvGrpSpPr>
          <p:cNvPr name="Group 17" id="17"/>
          <p:cNvGrpSpPr/>
          <p:nvPr/>
        </p:nvGrpSpPr>
        <p:grpSpPr>
          <a:xfrm rot="0">
            <a:off x="0" y="4114800"/>
            <a:ext cx="5145529" cy="3086100"/>
            <a:chOff x="0" y="0"/>
            <a:chExt cx="6860706" cy="4114800"/>
          </a:xfrm>
        </p:grpSpPr>
        <p:pic>
          <p:nvPicPr>
            <p:cNvPr name="Picture 18" id="18"/>
            <p:cNvPicPr>
              <a:picLocks noChangeAspect="true"/>
            </p:cNvPicPr>
            <p:nvPr/>
          </p:nvPicPr>
          <p:blipFill>
            <a:blip r:embed="rId5"/>
            <a:srcRect l="17834" t="0" r="17834" b="0"/>
            <a:stretch>
              <a:fillRect/>
            </a:stretch>
          </p:blipFill>
          <p:spPr>
            <a:xfrm flipH="false" flipV="false">
              <a:off x="0" y="0"/>
              <a:ext cx="6860706" cy="4114800"/>
            </a:xfrm>
            <a:prstGeom prst="rect">
              <a:avLst/>
            </a:prstGeom>
          </p:spPr>
        </p:pic>
      </p:grpSp>
      <p:grpSp>
        <p:nvGrpSpPr>
          <p:cNvPr name="Group 19" id="19"/>
          <p:cNvGrpSpPr/>
          <p:nvPr/>
        </p:nvGrpSpPr>
        <p:grpSpPr>
          <a:xfrm rot="0">
            <a:off x="0" y="7200900"/>
            <a:ext cx="5145529" cy="3086100"/>
            <a:chOff x="0" y="0"/>
            <a:chExt cx="6860706" cy="4114800"/>
          </a:xfrm>
        </p:grpSpPr>
        <p:pic>
          <p:nvPicPr>
            <p:cNvPr name="Picture 20" id="20"/>
            <p:cNvPicPr>
              <a:picLocks noChangeAspect="true"/>
            </p:cNvPicPr>
            <p:nvPr/>
          </p:nvPicPr>
          <p:blipFill>
            <a:blip r:embed="rId6"/>
            <a:srcRect l="0" t="5073" r="0" b="5073"/>
            <a:stretch>
              <a:fillRect/>
            </a:stretch>
          </p:blipFill>
          <p:spPr>
            <a:xfrm flipH="false" flipV="false">
              <a:off x="0" y="0"/>
              <a:ext cx="6860706" cy="4114800"/>
            </a:xfrm>
            <a:prstGeom prst="rect">
              <a:avLst/>
            </a:prstGeom>
          </p:spPr>
        </p:pic>
      </p:grpSp>
      <p:grpSp>
        <p:nvGrpSpPr>
          <p:cNvPr name="Group 21" id="21"/>
          <p:cNvGrpSpPr/>
          <p:nvPr/>
        </p:nvGrpSpPr>
        <p:grpSpPr>
          <a:xfrm rot="0">
            <a:off x="7090401" y="2424803"/>
            <a:ext cx="676273" cy="47625"/>
            <a:chOff x="0" y="0"/>
            <a:chExt cx="178113" cy="125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8113" cy="12543"/>
            </a:xfrm>
            <a:custGeom>
              <a:avLst/>
              <a:gdLst/>
              <a:ahLst/>
              <a:cxnLst/>
              <a:rect r="r" b="b" t="t" l="l"/>
              <a:pathLst>
                <a:path h="12543" w="178113">
                  <a:moveTo>
                    <a:pt x="0" y="0"/>
                  </a:moveTo>
                  <a:lnTo>
                    <a:pt x="178113" y="0"/>
                  </a:lnTo>
                  <a:lnTo>
                    <a:pt x="178113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78113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910030" y="5409186"/>
            <a:ext cx="9310877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•Requirement Gathering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•System Design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•Development and Testing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•Feedback and Improvements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•Deployment and Maintenance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12113771" y="4629150"/>
            <a:ext cx="5145529" cy="4114800"/>
            <a:chOff x="0" y="0"/>
            <a:chExt cx="6860706" cy="5486400"/>
          </a:xfrm>
        </p:grpSpPr>
        <p:pic>
          <p:nvPicPr>
            <p:cNvPr name="Picture 26" id="26"/>
            <p:cNvPicPr>
              <a:picLocks noChangeAspect="true"/>
            </p:cNvPicPr>
            <p:nvPr/>
          </p:nvPicPr>
          <p:blipFill>
            <a:blip r:embed="rId7"/>
            <a:srcRect l="14986" t="0" r="14986" b="0"/>
            <a:stretch>
              <a:fillRect/>
            </a:stretch>
          </p:blipFill>
          <p:spPr>
            <a:xfrm flipH="false" flipV="false">
              <a:off x="0" y="0"/>
              <a:ext cx="6860706" cy="5486400"/>
            </a:xfrm>
            <a:prstGeom prst="rect">
              <a:avLst/>
            </a:prstGeom>
          </p:spPr>
        </p:pic>
      </p:grpSp>
      <p:sp>
        <p:nvSpPr>
          <p:cNvPr name="TextBox 27" id="27"/>
          <p:cNvSpPr txBox="true"/>
          <p:nvPr/>
        </p:nvSpPr>
        <p:spPr>
          <a:xfrm rot="0">
            <a:off x="5940022" y="2722114"/>
            <a:ext cx="9280885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5C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 Used (Agile Model)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453800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93116" y="545903"/>
            <a:ext cx="397367" cy="28996"/>
            <a:chOff x="0" y="0"/>
            <a:chExt cx="128243" cy="93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81185" y="320325"/>
            <a:ext cx="401530" cy="305893"/>
          </a:xfrm>
          <a:custGeom>
            <a:avLst/>
            <a:gdLst/>
            <a:ahLst/>
            <a:cxnLst/>
            <a:rect r="r" b="b" t="t" l="l"/>
            <a:pathLst>
              <a:path h="305893" w="401530">
                <a:moveTo>
                  <a:pt x="0" y="0"/>
                </a:moveTo>
                <a:lnTo>
                  <a:pt x="401530" y="0"/>
                </a:lnTo>
                <a:lnTo>
                  <a:pt x="401530" y="305893"/>
                </a:lnTo>
                <a:lnTo>
                  <a:pt x="0" y="305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690482" y="7789422"/>
            <a:ext cx="47625" cy="1468878"/>
            <a:chOff x="0" y="0"/>
            <a:chExt cx="12543" cy="3868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43" cy="386865"/>
            </a:xfrm>
            <a:custGeom>
              <a:avLst/>
              <a:gdLst/>
              <a:ahLst/>
              <a:cxnLst/>
              <a:rect r="r" b="b" t="t" l="l"/>
              <a:pathLst>
                <a:path h="386865" w="12543">
                  <a:moveTo>
                    <a:pt x="0" y="0"/>
                  </a:moveTo>
                  <a:lnTo>
                    <a:pt x="12543" y="0"/>
                  </a:lnTo>
                  <a:lnTo>
                    <a:pt x="12543" y="386865"/>
                  </a:lnTo>
                  <a:lnTo>
                    <a:pt x="0" y="386865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543" cy="4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323340" y="2312551"/>
            <a:ext cx="5661898" cy="2830949"/>
            <a:chOff x="0" y="0"/>
            <a:chExt cx="7549197" cy="3774599"/>
          </a:xfrm>
        </p:grpSpPr>
        <p:pic>
          <p:nvPicPr>
            <p:cNvPr name="Picture 16" id="16"/>
            <p:cNvPicPr>
              <a:picLocks noChangeAspect="true"/>
            </p:cNvPicPr>
            <p:nvPr/>
          </p:nvPicPr>
          <p:blipFill>
            <a:blip r:embed="rId4"/>
            <a:srcRect l="594" t="12855" r="0" b="12590"/>
            <a:stretch>
              <a:fillRect/>
            </a:stretch>
          </p:blipFill>
          <p:spPr>
            <a:xfrm flipH="false" flipV="false">
              <a:off x="0" y="0"/>
              <a:ext cx="7549197" cy="3774599"/>
            </a:xfrm>
            <a:prstGeom prst="rect">
              <a:avLst/>
            </a:prstGeom>
          </p:spPr>
        </p:pic>
      </p:grpSp>
      <p:grpSp>
        <p:nvGrpSpPr>
          <p:cNvPr name="Group 17" id="17"/>
          <p:cNvGrpSpPr/>
          <p:nvPr/>
        </p:nvGrpSpPr>
        <p:grpSpPr>
          <a:xfrm rot="0">
            <a:off x="10323340" y="5143500"/>
            <a:ext cx="5661898" cy="2830949"/>
            <a:chOff x="0" y="0"/>
            <a:chExt cx="7549197" cy="3774599"/>
          </a:xfrm>
        </p:grpSpPr>
        <p:pic>
          <p:nvPicPr>
            <p:cNvPr name="Picture 18" id="18"/>
            <p:cNvPicPr>
              <a:picLocks noChangeAspect="true"/>
            </p:cNvPicPr>
            <p:nvPr/>
          </p:nvPicPr>
          <p:blipFill>
            <a:blip r:embed="rId5"/>
            <a:srcRect l="0" t="9044" r="0" b="15955"/>
            <a:stretch>
              <a:fillRect/>
            </a:stretch>
          </p:blipFill>
          <p:spPr>
            <a:xfrm flipH="false" flipV="false">
              <a:off x="0" y="0"/>
              <a:ext cx="7549197" cy="3774599"/>
            </a:xfrm>
            <a:prstGeom prst="rect">
              <a:avLst/>
            </a:prstGeom>
          </p:spPr>
        </p:pic>
      </p:grpSp>
      <p:sp>
        <p:nvSpPr>
          <p:cNvPr name="TextBox 19" id="19"/>
          <p:cNvSpPr txBox="true"/>
          <p:nvPr/>
        </p:nvSpPr>
        <p:spPr>
          <a:xfrm rot="0">
            <a:off x="2014534" y="2460976"/>
            <a:ext cx="6217064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Scope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014534" y="2312551"/>
            <a:ext cx="676273" cy="47625"/>
            <a:chOff x="0" y="0"/>
            <a:chExt cx="178113" cy="125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8113" cy="12543"/>
            </a:xfrm>
            <a:custGeom>
              <a:avLst/>
              <a:gdLst/>
              <a:ahLst/>
              <a:cxnLst/>
              <a:rect r="r" b="b" t="t" l="l"/>
              <a:pathLst>
                <a:path h="12543" w="178113">
                  <a:moveTo>
                    <a:pt x="0" y="0"/>
                  </a:moveTo>
                  <a:lnTo>
                    <a:pt x="178113" y="0"/>
                  </a:lnTo>
                  <a:lnTo>
                    <a:pt x="178113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78113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014534" y="4103489"/>
            <a:ext cx="6115910" cy="3870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5C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•User Authentication </a:t>
            </a:r>
            <a:r>
              <a:rPr lang="en-US" sz="2999" b="true">
                <a:solidFill>
                  <a:srgbClr val="FF5C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Module</a:t>
            </a: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5C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•Property Search Module</a:t>
            </a: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5C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•Property Management Module</a:t>
            </a: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5C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•Property Details Module</a:t>
            </a: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5C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•Google Maps Integration</a:t>
            </a: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5C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•Modern UI/UX Design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453800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93116" y="545903"/>
            <a:ext cx="397367" cy="28996"/>
            <a:chOff x="0" y="0"/>
            <a:chExt cx="128243" cy="93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81185" y="320325"/>
            <a:ext cx="401530" cy="305893"/>
          </a:xfrm>
          <a:custGeom>
            <a:avLst/>
            <a:gdLst/>
            <a:ahLst/>
            <a:cxnLst/>
            <a:rect r="r" b="b" t="t" l="l"/>
            <a:pathLst>
              <a:path h="305893" w="401530">
                <a:moveTo>
                  <a:pt x="0" y="0"/>
                </a:moveTo>
                <a:lnTo>
                  <a:pt x="401530" y="0"/>
                </a:lnTo>
                <a:lnTo>
                  <a:pt x="401530" y="305893"/>
                </a:lnTo>
                <a:lnTo>
                  <a:pt x="0" y="305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690482" y="7789422"/>
            <a:ext cx="47625" cy="1468878"/>
            <a:chOff x="0" y="0"/>
            <a:chExt cx="12543" cy="3868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43" cy="386865"/>
            </a:xfrm>
            <a:custGeom>
              <a:avLst/>
              <a:gdLst/>
              <a:ahLst/>
              <a:cxnLst/>
              <a:rect r="r" b="b" t="t" l="l"/>
              <a:pathLst>
                <a:path h="386865" w="12543">
                  <a:moveTo>
                    <a:pt x="0" y="0"/>
                  </a:moveTo>
                  <a:lnTo>
                    <a:pt x="12543" y="0"/>
                  </a:lnTo>
                  <a:lnTo>
                    <a:pt x="12543" y="386865"/>
                  </a:lnTo>
                  <a:lnTo>
                    <a:pt x="0" y="386865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543" cy="4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72786" y="1572418"/>
            <a:ext cx="5661898" cy="8229600"/>
            <a:chOff x="0" y="0"/>
            <a:chExt cx="7549197" cy="10972800"/>
          </a:xfrm>
        </p:grpSpPr>
        <p:pic>
          <p:nvPicPr>
            <p:cNvPr name="Picture 16" id="16"/>
            <p:cNvPicPr>
              <a:picLocks noChangeAspect="true"/>
            </p:cNvPicPr>
            <p:nvPr/>
          </p:nvPicPr>
          <p:blipFill>
            <a:blip r:embed="rId4"/>
            <a:srcRect l="0" t="0" r="0" b="3099"/>
            <a:stretch>
              <a:fillRect/>
            </a:stretch>
          </p:blipFill>
          <p:spPr>
            <a:xfrm flipH="false" flipV="false">
              <a:off x="0" y="0"/>
              <a:ext cx="7549197" cy="10972800"/>
            </a:xfrm>
            <a:prstGeom prst="rect">
              <a:avLst/>
            </a:prstGeom>
          </p:spPr>
        </p:pic>
      </p:grpSp>
      <p:grpSp>
        <p:nvGrpSpPr>
          <p:cNvPr name="Group 17" id="17"/>
          <p:cNvGrpSpPr/>
          <p:nvPr/>
        </p:nvGrpSpPr>
        <p:grpSpPr>
          <a:xfrm rot="0">
            <a:off x="6858584" y="1232595"/>
            <a:ext cx="3215823" cy="3215823"/>
            <a:chOff x="0" y="0"/>
            <a:chExt cx="4287764" cy="4287764"/>
          </a:xfrm>
        </p:grpSpPr>
        <p:pic>
          <p:nvPicPr>
            <p:cNvPr name="Picture 18" id="18"/>
            <p:cNvPicPr>
              <a:picLocks noChangeAspect="true"/>
            </p:cNvPicPr>
            <p:nvPr/>
          </p:nvPicPr>
          <p:blipFill>
            <a:blip r:embed="rId5"/>
            <a:srcRect l="16666" t="0" r="16666" b="0"/>
            <a:stretch>
              <a:fillRect/>
            </a:stretch>
          </p:blipFill>
          <p:spPr>
            <a:xfrm flipH="false" flipV="false">
              <a:off x="0" y="0"/>
              <a:ext cx="4287764" cy="4287764"/>
            </a:xfrm>
            <a:prstGeom prst="rect">
              <a:avLst/>
            </a:prstGeom>
          </p:spPr>
        </p:pic>
      </p:grpSp>
      <p:grpSp>
        <p:nvGrpSpPr>
          <p:cNvPr name="Group 19" id="19"/>
          <p:cNvGrpSpPr/>
          <p:nvPr/>
        </p:nvGrpSpPr>
        <p:grpSpPr>
          <a:xfrm rot="0">
            <a:off x="6858584" y="4656731"/>
            <a:ext cx="3215823" cy="3215823"/>
            <a:chOff x="0" y="0"/>
            <a:chExt cx="4287764" cy="4287764"/>
          </a:xfrm>
        </p:grpSpPr>
        <p:pic>
          <p:nvPicPr>
            <p:cNvPr name="Picture 20" id="20"/>
            <p:cNvPicPr>
              <a:picLocks noChangeAspect="true"/>
            </p:cNvPicPr>
            <p:nvPr/>
          </p:nvPicPr>
          <p:blipFill>
            <a:blip r:embed="rId6"/>
            <a:srcRect l="23731" t="0" r="9518" b="0"/>
            <a:stretch>
              <a:fillRect/>
            </a:stretch>
          </p:blipFill>
          <p:spPr>
            <a:xfrm flipH="false" flipV="false">
              <a:off x="0" y="0"/>
              <a:ext cx="4287764" cy="4287764"/>
            </a:xfrm>
            <a:prstGeom prst="rect">
              <a:avLst/>
            </a:prstGeom>
          </p:spPr>
        </p:pic>
      </p:grpSp>
      <p:grpSp>
        <p:nvGrpSpPr>
          <p:cNvPr name="Group 21" id="21"/>
          <p:cNvGrpSpPr/>
          <p:nvPr/>
        </p:nvGrpSpPr>
        <p:grpSpPr>
          <a:xfrm rot="0">
            <a:off x="6858584" y="8080867"/>
            <a:ext cx="3215823" cy="2206133"/>
            <a:chOff x="0" y="0"/>
            <a:chExt cx="4287764" cy="2941510"/>
          </a:xfrm>
        </p:grpSpPr>
        <p:pic>
          <p:nvPicPr>
            <p:cNvPr name="Picture 22" id="22"/>
            <p:cNvPicPr>
              <a:picLocks noChangeAspect="true"/>
            </p:cNvPicPr>
            <p:nvPr/>
          </p:nvPicPr>
          <p:blipFill>
            <a:blip r:embed="rId7"/>
            <a:srcRect l="0" t="7605" r="0" b="7605"/>
            <a:stretch>
              <a:fillRect/>
            </a:stretch>
          </p:blipFill>
          <p:spPr>
            <a:xfrm flipH="false" flipV="false">
              <a:off x="0" y="0"/>
              <a:ext cx="4287764" cy="2941510"/>
            </a:xfrm>
            <a:prstGeom prst="rect">
              <a:avLst/>
            </a:prstGeom>
          </p:spPr>
        </p:pic>
      </p:grpSp>
      <p:sp>
        <p:nvSpPr>
          <p:cNvPr name="TextBox 23" id="23"/>
          <p:cNvSpPr txBox="true"/>
          <p:nvPr/>
        </p:nvSpPr>
        <p:spPr>
          <a:xfrm rot="0">
            <a:off x="11027425" y="2539324"/>
            <a:ext cx="7042285" cy="187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Functional Requirements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027425" y="2310724"/>
            <a:ext cx="676273" cy="47625"/>
            <a:chOff x="0" y="0"/>
            <a:chExt cx="178113" cy="125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8113" cy="12543"/>
            </a:xfrm>
            <a:custGeom>
              <a:avLst/>
              <a:gdLst/>
              <a:ahLst/>
              <a:cxnLst/>
              <a:rect r="r" b="b" t="t" l="l"/>
              <a:pathLst>
                <a:path h="12543" w="178113">
                  <a:moveTo>
                    <a:pt x="0" y="0"/>
                  </a:moveTo>
                  <a:lnTo>
                    <a:pt x="178113" y="0"/>
                  </a:lnTo>
                  <a:lnTo>
                    <a:pt x="178113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78113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027425" y="4656731"/>
            <a:ext cx="6265690" cy="4527202"/>
            <a:chOff x="0" y="0"/>
            <a:chExt cx="1650223" cy="11923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50223" cy="1192350"/>
            </a:xfrm>
            <a:custGeom>
              <a:avLst/>
              <a:gdLst/>
              <a:ahLst/>
              <a:cxnLst/>
              <a:rect r="r" b="b" t="t" l="l"/>
              <a:pathLst>
                <a:path h="1192350" w="1650223">
                  <a:moveTo>
                    <a:pt x="0" y="0"/>
                  </a:moveTo>
                  <a:lnTo>
                    <a:pt x="1650223" y="0"/>
                  </a:lnTo>
                  <a:lnTo>
                    <a:pt x="1650223" y="1192350"/>
                  </a:lnTo>
                  <a:lnTo>
                    <a:pt x="0" y="1192350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650223" cy="1230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620959" y="4788745"/>
            <a:ext cx="5298343" cy="4686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•User Signup/Login</a:t>
            </a: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•Property Uploading and </a:t>
            </a:r>
            <a:r>
              <a:rPr lang="en-US" sz="2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Management</a:t>
            </a: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•Property Search and Filtering</a:t>
            </a: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•Google Maps Integration</a:t>
            </a: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•Direct Contact with Landlords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453800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93116" y="545903"/>
            <a:ext cx="397367" cy="28996"/>
            <a:chOff x="0" y="0"/>
            <a:chExt cx="128243" cy="93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81185" y="320325"/>
            <a:ext cx="401530" cy="305893"/>
          </a:xfrm>
          <a:custGeom>
            <a:avLst/>
            <a:gdLst/>
            <a:ahLst/>
            <a:cxnLst/>
            <a:rect r="r" b="b" t="t" l="l"/>
            <a:pathLst>
              <a:path h="305893" w="401530">
                <a:moveTo>
                  <a:pt x="0" y="0"/>
                </a:moveTo>
                <a:lnTo>
                  <a:pt x="401530" y="0"/>
                </a:lnTo>
                <a:lnTo>
                  <a:pt x="401530" y="305893"/>
                </a:lnTo>
                <a:lnTo>
                  <a:pt x="0" y="305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690482" y="7789422"/>
            <a:ext cx="47625" cy="1468878"/>
            <a:chOff x="0" y="0"/>
            <a:chExt cx="12543" cy="3868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43" cy="386865"/>
            </a:xfrm>
            <a:custGeom>
              <a:avLst/>
              <a:gdLst/>
              <a:ahLst/>
              <a:cxnLst/>
              <a:rect r="r" b="b" t="t" l="l"/>
              <a:pathLst>
                <a:path h="386865" w="12543">
                  <a:moveTo>
                    <a:pt x="0" y="0"/>
                  </a:moveTo>
                  <a:lnTo>
                    <a:pt x="12543" y="0"/>
                  </a:lnTo>
                  <a:lnTo>
                    <a:pt x="12543" y="386865"/>
                  </a:lnTo>
                  <a:lnTo>
                    <a:pt x="0" y="386865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543" cy="4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898530" y="1845408"/>
            <a:ext cx="4624676" cy="6596184"/>
            <a:chOff x="0" y="0"/>
            <a:chExt cx="6166234" cy="8794912"/>
          </a:xfrm>
        </p:grpSpPr>
        <p:pic>
          <p:nvPicPr>
            <p:cNvPr name="Picture 16" id="16"/>
            <p:cNvPicPr>
              <a:picLocks noChangeAspect="true"/>
            </p:cNvPicPr>
            <p:nvPr/>
          </p:nvPicPr>
          <p:blipFill>
            <a:blip r:embed="rId4"/>
            <a:srcRect l="3259" t="0" r="3259" b="0"/>
            <a:stretch>
              <a:fillRect/>
            </a:stretch>
          </p:blipFill>
          <p:spPr>
            <a:xfrm flipH="false" flipV="false">
              <a:off x="0" y="0"/>
              <a:ext cx="6166234" cy="8794912"/>
            </a:xfrm>
            <a:prstGeom prst="rect">
              <a:avLst/>
            </a:prstGeom>
          </p:spPr>
        </p:pic>
      </p:grpSp>
      <p:grpSp>
        <p:nvGrpSpPr>
          <p:cNvPr name="Group 17" id="17"/>
          <p:cNvGrpSpPr/>
          <p:nvPr/>
        </p:nvGrpSpPr>
        <p:grpSpPr>
          <a:xfrm rot="0">
            <a:off x="7062252" y="3690816"/>
            <a:ext cx="4624676" cy="6596184"/>
            <a:chOff x="0" y="0"/>
            <a:chExt cx="6166234" cy="8794912"/>
          </a:xfrm>
        </p:grpSpPr>
        <p:pic>
          <p:nvPicPr>
            <p:cNvPr name="Picture 18" id="18"/>
            <p:cNvPicPr>
              <a:picLocks noChangeAspect="true"/>
            </p:cNvPicPr>
            <p:nvPr/>
          </p:nvPicPr>
          <p:blipFill>
            <a:blip r:embed="rId5"/>
            <a:srcRect l="44922" t="0" r="8366" b="0"/>
            <a:stretch>
              <a:fillRect/>
            </a:stretch>
          </p:blipFill>
          <p:spPr>
            <a:xfrm flipH="false" flipV="false">
              <a:off x="0" y="0"/>
              <a:ext cx="6166234" cy="8794912"/>
            </a:xfrm>
            <a:prstGeom prst="rect">
              <a:avLst/>
            </a:prstGeom>
          </p:spPr>
        </p:pic>
      </p:grpSp>
      <p:sp>
        <p:nvSpPr>
          <p:cNvPr name="TextBox 19" id="19"/>
          <p:cNvSpPr txBox="true"/>
          <p:nvPr/>
        </p:nvSpPr>
        <p:spPr>
          <a:xfrm rot="0">
            <a:off x="1028700" y="2212804"/>
            <a:ext cx="7516776" cy="187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Non - Functional Requirements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89691" y="2024437"/>
            <a:ext cx="676273" cy="47625"/>
            <a:chOff x="0" y="0"/>
            <a:chExt cx="178113" cy="125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8113" cy="12543"/>
            </a:xfrm>
            <a:custGeom>
              <a:avLst/>
              <a:gdLst/>
              <a:ahLst/>
              <a:cxnLst/>
              <a:rect r="r" b="b" t="t" l="l"/>
              <a:pathLst>
                <a:path h="12543" w="178113">
                  <a:moveTo>
                    <a:pt x="0" y="0"/>
                  </a:moveTo>
                  <a:lnTo>
                    <a:pt x="178113" y="0"/>
                  </a:lnTo>
                  <a:lnTo>
                    <a:pt x="178113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78113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91485" y="4662853"/>
            <a:ext cx="6115910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5C00"/>
                </a:solidFill>
                <a:latin typeface="Open Sans"/>
                <a:ea typeface="Open Sans"/>
                <a:cs typeface="Open Sans"/>
                <a:sym typeface="Open Sans"/>
              </a:rPr>
              <a:t>•High Performance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5C00"/>
                </a:solidFill>
                <a:latin typeface="Open Sans"/>
                <a:ea typeface="Open Sans"/>
                <a:cs typeface="Open Sans"/>
                <a:sym typeface="Open Sans"/>
              </a:rPr>
              <a:t>•Secure Authentication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5C00"/>
                </a:solidFill>
                <a:latin typeface="Open Sans"/>
                <a:ea typeface="Open Sans"/>
                <a:cs typeface="Open Sans"/>
                <a:sym typeface="Open Sans"/>
              </a:rPr>
              <a:t>•User-Friendly Interface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5C00"/>
                </a:solidFill>
                <a:latin typeface="Open Sans"/>
                <a:ea typeface="Open Sans"/>
                <a:cs typeface="Open Sans"/>
                <a:sym typeface="Open Sans"/>
              </a:rPr>
              <a:t>•Reliable and Scalable System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5C00"/>
                </a:solidFill>
                <a:latin typeface="Open Sans"/>
                <a:ea typeface="Open Sans"/>
                <a:cs typeface="Open Sans"/>
                <a:sym typeface="Open Sans"/>
              </a:rPr>
              <a:t>•Fast Response Time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6052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453800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93116" y="545903"/>
            <a:ext cx="397367" cy="28996"/>
            <a:chOff x="0" y="0"/>
            <a:chExt cx="128243" cy="93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81185" y="320325"/>
            <a:ext cx="401530" cy="305893"/>
          </a:xfrm>
          <a:custGeom>
            <a:avLst/>
            <a:gdLst/>
            <a:ahLst/>
            <a:cxnLst/>
            <a:rect r="r" b="b" t="t" l="l"/>
            <a:pathLst>
              <a:path h="305893" w="401530">
                <a:moveTo>
                  <a:pt x="0" y="0"/>
                </a:moveTo>
                <a:lnTo>
                  <a:pt x="401530" y="0"/>
                </a:lnTo>
                <a:lnTo>
                  <a:pt x="401530" y="305893"/>
                </a:lnTo>
                <a:lnTo>
                  <a:pt x="0" y="305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690482" y="7789422"/>
            <a:ext cx="47625" cy="1468878"/>
            <a:chOff x="0" y="0"/>
            <a:chExt cx="12543" cy="3868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43" cy="386865"/>
            </a:xfrm>
            <a:custGeom>
              <a:avLst/>
              <a:gdLst/>
              <a:ahLst/>
              <a:cxnLst/>
              <a:rect r="r" b="b" t="t" l="l"/>
              <a:pathLst>
                <a:path h="386865" w="12543">
                  <a:moveTo>
                    <a:pt x="0" y="0"/>
                  </a:moveTo>
                  <a:lnTo>
                    <a:pt x="12543" y="0"/>
                  </a:lnTo>
                  <a:lnTo>
                    <a:pt x="12543" y="386865"/>
                  </a:lnTo>
                  <a:lnTo>
                    <a:pt x="0" y="386865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543" cy="4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0" y="2866206"/>
            <a:ext cx="676273" cy="47625"/>
            <a:chOff x="0" y="0"/>
            <a:chExt cx="178113" cy="125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8113" cy="12543"/>
            </a:xfrm>
            <a:custGeom>
              <a:avLst/>
              <a:gdLst/>
              <a:ahLst/>
              <a:cxnLst/>
              <a:rect r="r" b="b" t="t" l="l"/>
              <a:pathLst>
                <a:path h="12543" w="178113">
                  <a:moveTo>
                    <a:pt x="0" y="0"/>
                  </a:moveTo>
                  <a:lnTo>
                    <a:pt x="178113" y="0"/>
                  </a:lnTo>
                  <a:lnTo>
                    <a:pt x="178113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8113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264624" y="3121012"/>
            <a:ext cx="8435025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b="true" sz="5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 Used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33790" y="4685030"/>
            <a:ext cx="10382975" cy="457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•Flutter Framework</a:t>
            </a:r>
          </a:p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•Dart Programming Language</a:t>
            </a:r>
          </a:p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•Firebase Authentication</a:t>
            </a:r>
          </a:p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•Cloud Firestore Database</a:t>
            </a:r>
          </a:p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•Google Maps API</a:t>
            </a:r>
          </a:p>
          <a:p>
            <a:pPr algn="ctr">
              <a:lnSpc>
                <a:spcPts val="5179"/>
              </a:lnSpc>
            </a:pPr>
          </a:p>
          <a:p>
            <a:pPr algn="ctr">
              <a:lnSpc>
                <a:spcPts val="51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81185" y="320325"/>
            <a:ext cx="401530" cy="305893"/>
          </a:xfrm>
          <a:custGeom>
            <a:avLst/>
            <a:gdLst/>
            <a:ahLst/>
            <a:cxnLst/>
            <a:rect r="r" b="b" t="t" l="l"/>
            <a:pathLst>
              <a:path h="305893" w="401530">
                <a:moveTo>
                  <a:pt x="0" y="0"/>
                </a:moveTo>
                <a:lnTo>
                  <a:pt x="401530" y="0"/>
                </a:lnTo>
                <a:lnTo>
                  <a:pt x="401530" y="305893"/>
                </a:lnTo>
                <a:lnTo>
                  <a:pt x="0" y="305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05840"/>
            <a:ext cx="2820741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Arowwai Industries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690482" y="7789422"/>
            <a:ext cx="47625" cy="1468878"/>
            <a:chOff x="0" y="0"/>
            <a:chExt cx="12543" cy="386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43" cy="386865"/>
            </a:xfrm>
            <a:custGeom>
              <a:avLst/>
              <a:gdLst/>
              <a:ahLst/>
              <a:cxnLst/>
              <a:rect r="r" b="b" t="t" l="l"/>
              <a:pathLst>
                <a:path h="386865" w="12543">
                  <a:moveTo>
                    <a:pt x="0" y="0"/>
                  </a:moveTo>
                  <a:lnTo>
                    <a:pt x="12543" y="0"/>
                  </a:lnTo>
                  <a:lnTo>
                    <a:pt x="12543" y="386865"/>
                  </a:lnTo>
                  <a:lnTo>
                    <a:pt x="0" y="386865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543" cy="4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1028700"/>
            <a:ext cx="9258300" cy="6760722"/>
            <a:chOff x="0" y="0"/>
            <a:chExt cx="12344400" cy="9014297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4"/>
            <a:srcRect l="8705" t="0" r="0" b="0"/>
            <a:stretch>
              <a:fillRect/>
            </a:stretch>
          </p:blipFill>
          <p:spPr>
            <a:xfrm flipH="true" flipV="false">
              <a:off x="0" y="0"/>
              <a:ext cx="12344400" cy="9014297"/>
            </a:xfrm>
            <a:prstGeom prst="rect">
              <a:avLst/>
            </a:prstGeom>
          </p:spPr>
        </p:pic>
      </p:grpSp>
      <p:sp>
        <p:nvSpPr>
          <p:cNvPr name="TextBox 12" id="12"/>
          <p:cNvSpPr txBox="true"/>
          <p:nvPr/>
        </p:nvSpPr>
        <p:spPr>
          <a:xfrm rot="0">
            <a:off x="10904193" y="2768690"/>
            <a:ext cx="6436139" cy="177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Enchancement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301968" y="2516228"/>
            <a:ext cx="676273" cy="47625"/>
            <a:chOff x="0" y="0"/>
            <a:chExt cx="178113" cy="125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8113" cy="12543"/>
            </a:xfrm>
            <a:custGeom>
              <a:avLst/>
              <a:gdLst/>
              <a:ahLst/>
              <a:cxnLst/>
              <a:rect r="r" b="b" t="t" l="l"/>
              <a:pathLst>
                <a:path h="12543" w="178113">
                  <a:moveTo>
                    <a:pt x="0" y="0"/>
                  </a:moveTo>
                  <a:lnTo>
                    <a:pt x="178113" y="0"/>
                  </a:lnTo>
                  <a:lnTo>
                    <a:pt x="178113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8113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904193" y="4710886"/>
            <a:ext cx="6017569" cy="4612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•User-friendly rental platform developed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•Easy property management and searching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•Future features: AI recommendations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•Online payment integration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•Push notifications and in-app chat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453800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93116" y="545903"/>
            <a:ext cx="397367" cy="28996"/>
            <a:chOff x="0" y="0"/>
            <a:chExt cx="128243" cy="93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81185" y="320325"/>
            <a:ext cx="401530" cy="305893"/>
          </a:xfrm>
          <a:custGeom>
            <a:avLst/>
            <a:gdLst/>
            <a:ahLst/>
            <a:cxnLst/>
            <a:rect r="r" b="b" t="t" l="l"/>
            <a:pathLst>
              <a:path h="305893" w="401530">
                <a:moveTo>
                  <a:pt x="0" y="0"/>
                </a:moveTo>
                <a:lnTo>
                  <a:pt x="401530" y="0"/>
                </a:lnTo>
                <a:lnTo>
                  <a:pt x="401530" y="305893"/>
                </a:lnTo>
                <a:lnTo>
                  <a:pt x="0" y="305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690482" y="7789422"/>
            <a:ext cx="47625" cy="1468878"/>
            <a:chOff x="0" y="0"/>
            <a:chExt cx="12543" cy="3868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43" cy="386865"/>
            </a:xfrm>
            <a:custGeom>
              <a:avLst/>
              <a:gdLst/>
              <a:ahLst/>
              <a:cxnLst/>
              <a:rect r="r" b="b" t="t" l="l"/>
              <a:pathLst>
                <a:path h="386865" w="12543">
                  <a:moveTo>
                    <a:pt x="0" y="0"/>
                  </a:moveTo>
                  <a:lnTo>
                    <a:pt x="12543" y="0"/>
                  </a:lnTo>
                  <a:lnTo>
                    <a:pt x="12543" y="386865"/>
                  </a:lnTo>
                  <a:lnTo>
                    <a:pt x="0" y="386865"/>
                  </a:ln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543" cy="4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2058100"/>
            <a:ext cx="16230600" cy="4275510"/>
            <a:chOff x="0" y="0"/>
            <a:chExt cx="21640800" cy="5700680"/>
          </a:xfrm>
        </p:grpSpPr>
        <p:pic>
          <p:nvPicPr>
            <p:cNvPr name="Picture 16" id="16"/>
            <p:cNvPicPr>
              <a:picLocks noChangeAspect="true"/>
            </p:cNvPicPr>
            <p:nvPr/>
          </p:nvPicPr>
          <p:blipFill>
            <a:blip r:embed="rId4"/>
            <a:srcRect l="0" t="21763" r="0" b="31406"/>
            <a:stretch>
              <a:fillRect/>
            </a:stretch>
          </p:blipFill>
          <p:spPr>
            <a:xfrm flipH="false" flipV="false">
              <a:off x="0" y="0"/>
              <a:ext cx="21640800" cy="5700680"/>
            </a:xfrm>
            <a:prstGeom prst="rect">
              <a:avLst/>
            </a:prstGeom>
          </p:spPr>
        </p:pic>
      </p:grpSp>
      <p:sp>
        <p:nvSpPr>
          <p:cNvPr name="TextBox 17" id="17"/>
          <p:cNvSpPr txBox="true"/>
          <p:nvPr/>
        </p:nvSpPr>
        <p:spPr>
          <a:xfrm rot="0">
            <a:off x="2282553" y="6562865"/>
            <a:ext cx="13722893" cy="233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08"/>
              </a:lnSpc>
            </a:pPr>
            <a:r>
              <a:rPr lang="en-US" b="true" sz="150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DAHKDD8wWIY</dc:identifier>
  <dcterms:modified xsi:type="dcterms:W3CDTF">2011-08-01T06:04:30Z</dcterms:modified>
  <cp:revision>1</cp:revision>
  <dc:title>Orange Black Modern House Presentation</dc:title>
</cp:coreProperties>
</file>